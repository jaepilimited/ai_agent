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9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entell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1117600"/>
            <a:ext cx="3086100" cy="4572000"/>
          </a:xfrm>
          <a:prstGeom prst="rect">
            <a:avLst/>
          </a:prstGeom>
          <a:effectLst>
            <a:outerShdw blurRad="203200" dist="762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5200" y="1803400"/>
            <a:ext cx="7302500" cy="3632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800" b="1">
                <a:solidFill>
                  <a:srgbClr val="1D1D1F"/>
                </a:solidFill>
                <a:latin typeface="Noto Sans KR" panose="020B0200000000000000" pitchFamily="50" charset="-127"/>
              </a:rPr>
              <a:t>Cella </a:t>
            </a:r>
            <a:r>
              <a:rPr lang="ko-KR" altLang="en-US" sz="4800" b="1">
                <a:solidFill>
                  <a:srgbClr val="1D1D1F"/>
                </a:solidFill>
                <a:latin typeface="Noto Sans KR" panose="020B0200000000000000" pitchFamily="50" charset="-127"/>
              </a:rPr>
              <a:t>사용 가이드</a:t>
            </a:r>
          </a:p>
          <a:p>
            <a:pPr>
              <a:spcAft>
                <a:spcPts val="200"/>
              </a:spcAft>
            </a:pPr>
            <a:r>
              <a:rPr lang="ko-KR" altLang="en-US" sz="2100">
                <a:solidFill>
                  <a:srgbClr val="6E6E73"/>
                </a:solidFill>
                <a:latin typeface="Noto Sans KR" panose="020B0200000000000000" pitchFamily="50" charset="-127"/>
              </a:rPr>
              <a:t>회사 데이터와 연결된 사내 </a:t>
            </a:r>
            <a:r>
              <a:rPr lang="en-US" altLang="ko-KR" sz="2100">
                <a:solidFill>
                  <a:srgbClr val="6E6E73"/>
                </a:solidFill>
                <a:latin typeface="Noto Sans KR" panose="020B0200000000000000" pitchFamily="50" charset="-127"/>
              </a:rPr>
              <a:t>AI </a:t>
            </a:r>
            <a:r>
              <a:rPr lang="ko-KR" altLang="en-US" sz="2100">
                <a:solidFill>
                  <a:srgbClr val="6E6E73"/>
                </a:solidFill>
                <a:latin typeface="Noto Sans KR" panose="020B0200000000000000" pitchFamily="50" charset="-127"/>
              </a:rPr>
              <a:t>어시스턴트</a:t>
            </a:r>
          </a:p>
          <a:p>
            <a:pPr>
              <a:spcAft>
                <a:spcPts val="1200"/>
              </a:spcAft>
            </a:pPr>
            <a:r>
              <a:rPr lang="ko-KR" altLang="en-US" sz="2100">
                <a:solidFill>
                  <a:srgbClr val="6E6E73"/>
                </a:solidFill>
                <a:latin typeface="Noto Sans KR" panose="020B0200000000000000" pitchFamily="50" charset="-127"/>
              </a:rPr>
              <a:t>처음 쓰는 분을 위한 빠른 안내</a:t>
            </a:r>
          </a:p>
          <a:p>
            <a:pPr>
              <a:spcAft>
                <a:spcPts val="1800"/>
              </a:spcAft>
            </a:pPr>
            <a:r>
              <a:rPr lang="en-US" altLang="ko-KR" sz="1900" b="1">
                <a:solidFill>
                  <a:srgbClr val="FF9500"/>
                </a:solidFill>
                <a:latin typeface="Noto Sans KR" panose="020B0200000000000000" pitchFamily="50" charset="-127"/>
              </a:rPr>
              <a:t>What do you crave?</a:t>
            </a:r>
          </a:p>
          <a:p>
            <a:r>
              <a:rPr lang="en-US" altLang="ko-KR" sz="1250">
                <a:solidFill>
                  <a:srgbClr val="6E6E73"/>
                </a:solidFill>
                <a:latin typeface="Noto Sans KR" panose="020B0200000000000000" pitchFamily="50" charset="-127"/>
              </a:rPr>
              <a:t>2026. 09  </a:t>
            </a:r>
            <a:r>
              <a:rPr lang="ko-KR" altLang="en-US" sz="1250">
                <a:solidFill>
                  <a:srgbClr val="6E6E73"/>
                </a:solidFill>
                <a:latin typeface="Noto Sans KR" panose="020B0200000000000000" pitchFamily="50" charset="-127"/>
              </a:rPr>
              <a:t>데이터분석팀</a:t>
            </a:r>
            <a:endParaRPr sz="1250">
              <a:solidFill>
                <a:srgbClr val="6E6E73"/>
              </a:solidFill>
              <a:latin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7400" y="1117600"/>
            <a:ext cx="10617200" cy="3088025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Cella는 우리 회사(크레이버) 전용 AI 어시스턴트입니다. 채팅하듯 질문하면, 회사 데이터를 직접 조회해서 답합니다.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이런 걸 물어볼 수 있습니다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•  매출·판매 데이터 — "올해 인도네시아 매출 얼마야?", "가장 많이 팔린 제품 top5"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•  제품 정보 — "센텔라 앰플 전성분 알려줘", "임산부가 써도 되는 제품은?"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•  사내 문서 — "휴가 신청 절차", "신규 거래처 온보딩 프로세스"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•  마케팅·리뷰 — 광고비, ROAS, 인플루언서 성과, 아마존/쇼피 리뷰 평점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•  내 일정·메일 — Google 계정을 연결하면 "이번주 내 일정 알려줘"도 가능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핵심 한 줄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50">
                <a:solidFill>
                  <a:srgbClr val="3A3A3C"/>
                </a:solidFill>
                <a:latin typeface="Noto Sans KR" panose="020B0200000000000000" pitchFamily="50" charset="-127"/>
              </a:rPr>
              <a:t>SQL도, 대시보드도 몰라도 됩니다. 한국어로 물어보면 Cella가 데이터를 찾아 표와 차트로 답합니다.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3DDDD-D9C1-0B60-F5D6-6AAF770557A3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Cella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1CD11-BD29-691D-53EA-5AE7769441DE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ntell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68400"/>
            <a:ext cx="3429000" cy="5080000"/>
          </a:xfrm>
          <a:prstGeom prst="rect">
            <a:avLst/>
          </a:prstGeom>
          <a:effectLst>
            <a:outerShdw blurRad="177800" dist="63500" dir="5400000" rotWithShape="0">
              <a:srgbClr val="000000">
                <a:alpha val="14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207000" y="1168400"/>
            <a:ext cx="6350000" cy="3149580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20">
                <a:solidFill>
                  <a:srgbClr val="3A3A3C"/>
                </a:solidFill>
                <a:latin typeface="Noto Sans KR" panose="020B0200000000000000" pitchFamily="50" charset="-127"/>
              </a:rPr>
              <a:t>SKIN1004의 시그니처는 청정 지역 마다가스카르에서 수확한 센텔라(Centella, 병풀)입니다.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50" b="1">
                <a:solidFill>
                  <a:srgbClr val="FF9500"/>
                </a:solidFill>
                <a:latin typeface="Noto Sans KR" panose="020B0200000000000000" pitchFamily="50" charset="-127"/>
              </a:rPr>
              <a:t>CENTELLA  →  CELLA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20">
                <a:solidFill>
                  <a:srgbClr val="3A3A3C"/>
                </a:solidFill>
                <a:latin typeface="Noto Sans KR" panose="020B0200000000000000" pitchFamily="50" charset="-127"/>
              </a:rPr>
              <a:t>시그니처 원료의 이름에서 따온, 우리 브랜드 DNA를 담은 이름입니다.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850" b="1">
                <a:solidFill>
                  <a:srgbClr val="FF9500"/>
                </a:solidFill>
                <a:latin typeface="Noto Sans KR" panose="020B0200000000000000" pitchFamily="50" charset="-127"/>
              </a:rPr>
              <a:t>이름처럼 지향하는 것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20">
                <a:solidFill>
                  <a:srgbClr val="3A3A3C"/>
                </a:solidFill>
                <a:latin typeface="Noto Sans KR" panose="020B0200000000000000" pitchFamily="50" charset="-127"/>
              </a:rPr>
              <a:t>•  센텔라가 피부 고민을 진정시키듯, Cella는 데이터 고민을 진정시킵니다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20">
                <a:solidFill>
                  <a:srgbClr val="3A3A3C"/>
                </a:solidFill>
                <a:latin typeface="Noto Sans KR" panose="020B0200000000000000" pitchFamily="50" charset="-127"/>
              </a:rPr>
              <a:t>•  불필요한 것을 뺀 미니멀 포뮬러처럼 — 질문 하나, 답 하나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20">
                <a:solidFill>
                  <a:srgbClr val="3A3A3C"/>
                </a:solidFill>
                <a:latin typeface="Noto Sans KR" panose="020B0200000000000000" pitchFamily="50" charset="-127"/>
              </a:rPr>
              <a:t>대표 제품: 마다가스카르 센텔라 100 앰플 (글로벌 베스트셀러)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31CB1-987A-7272-4DAF-C64DFD72D1BD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2. Cella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이름의 유래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D45D52-3A24-4D40-4789-B193B1604377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543237"/>
              </p:ext>
            </p:extLst>
          </p:nvPr>
        </p:nvGraphicFramePr>
        <p:xfrm>
          <a:off x="660400" y="1117600"/>
          <a:ext cx="10871200" cy="46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657">
                <a:tc>
                  <a:txBody>
                    <a:bodyPr/>
                    <a:lstStyle/>
                    <a:p>
                      <a:endParaRPr sz="1400" b="1">
                        <a:solidFill>
                          <a:srgbClr val="1D1D1F"/>
                        </a:solidFill>
                        <a:latin typeface="Noto Sans KR" panose="020B0200000000000000" pitchFamily="50" charset="-127"/>
                      </a:endParaRP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F"/>
                          </a:solidFill>
                          <a:latin typeface="Noto Sans KR" panose="020B0200000000000000" pitchFamily="50" charset="-127"/>
                        </a:rPr>
                        <a:t>Cella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2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D1D1F"/>
                          </a:solidFill>
                          <a:latin typeface="Noto Sans KR" panose="020B0200000000000000" pitchFamily="50" charset="-127"/>
                        </a:rPr>
                        <a:t>ChatGPT / Gemini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2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우리 회사 매출 데이터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✓ 실시간 직접 조회 (BigQuery)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✗ 접근 불가 — 아예 모름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사내 문서·제품 전성분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✓ 노션·사내 시트 연동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✗ 접근 불가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사내 용어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✓ "센앰", "포마", "델메" 알아들음 (오타도 보정)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✗ 무슨 말인지 모름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권한 관리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✓ 손익 등 민감 데이터는 승인자만 조회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✗ 개념 없음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숫자 신뢰성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✓ Daily Metrics와 동일 산식 검증 + 실행된 쿼리 공개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✗ 그럴듯한 숫자를 지어낼 수 있음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659">
                <a:tc>
                  <a:txBody>
                    <a:bodyPr/>
                    <a:lstStyle/>
                    <a:p>
                      <a:r>
                        <a:rPr sz="1280" b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일반 지식·번역·초안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9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△ 가능하지만 특화 아님</a:t>
                      </a: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FF6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80" b="0" dirty="0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✓ 더 </a:t>
                      </a:r>
                      <a:r>
                        <a:rPr sz="1280" b="0" dirty="0" err="1">
                          <a:solidFill>
                            <a:srgbClr val="3A3A3C"/>
                          </a:solidFill>
                          <a:latin typeface="Noto Sans KR" panose="020B0200000000000000" pitchFamily="50" charset="-127"/>
                        </a:rPr>
                        <a:t>잘함</a:t>
                      </a:r>
                      <a:endParaRPr sz="1280" b="0" dirty="0">
                        <a:solidFill>
                          <a:srgbClr val="3A3A3C"/>
                        </a:solidFill>
                        <a:latin typeface="Noto Sans KR" panose="020B0200000000000000" pitchFamily="50" charset="-127"/>
                      </a:endParaRPr>
                    </a:p>
                  </a:txBody>
                  <a:tcPr marL="101600" marR="101600" marT="76200" marB="50800">
                    <a:lnL w="6350" cmpd="sng">
                      <a:solidFill>
                        <a:srgbClr val="D2D2D7"/>
                      </a:solidFill>
                    </a:lnL>
                    <a:lnR w="6350" cmpd="sng">
                      <a:solidFill>
                        <a:srgbClr val="D2D2D7"/>
                      </a:solidFill>
                    </a:lnR>
                    <a:lnT w="6350" cmpd="sng">
                      <a:solidFill>
                        <a:srgbClr val="D2D2D7"/>
                      </a:solidFill>
                    </a:lnT>
                    <a:lnB w="6350" cmpd="sng">
                      <a:solidFill>
                        <a:srgbClr val="D2D2D7"/>
                      </a:solidFill>
                    </a:lnB>
                    <a:solidFill>
                      <a:srgbClr val="F9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956300"/>
            <a:ext cx="10668000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6E6E73"/>
                </a:solidFill>
                <a:latin typeface="Noto Sans KR" panose="020B0200000000000000" pitchFamily="50" charset="-127"/>
              </a:rPr>
              <a:t>요약: 모델이 아니라 '연결'이 다릅니다. 회사 데이터에 관한 질문은 Cella, 일반 지식·번역은 ChatGPT가 낫습니다.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55C3F-2FA3-8488-DCBB-68266780EA04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3. Cella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및 </a:t>
            </a:r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ChatGPT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78621A-CBE2-15A3-95A9-569D15F15051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701800"/>
            <a:ext cx="1981200" cy="236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77800" rIns="152400" bIns="127000" rtlCol="0" anchor="ctr"/>
          <a:lstStyle/>
          <a:p>
            <a:pPr algn="ctr"/>
            <a:r>
              <a:rPr sz="1420" b="1">
                <a:solidFill>
                  <a:srgbClr val="1D1D1F"/>
                </a:solidFill>
                <a:latin typeface="Noto Sans KR" panose="020B0200000000000000" pitchFamily="50" charset="-127"/>
              </a:rPr>
              <a:t>① 질문 이해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6E6E73"/>
                </a:solidFill>
                <a:latin typeface="Noto Sans KR" panose="020B0200000000000000" pitchFamily="50" charset="-127"/>
              </a:rPr>
              <a:t>사내 은어·오타 보정
("센앰"→센텔라 앰플)
어떤 데이터가 필요한지
AI가 의도 분류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38400" y="2628900"/>
            <a:ext cx="381000" cy="406400"/>
          </a:xfrm>
          <a:prstGeom prst="rightArrow">
            <a:avLst/>
          </a:prstGeom>
          <a:solidFill>
            <a:srgbClr val="FF9500">
              <a:alpha val="92000"/>
            </a:srgb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57500" y="1701800"/>
            <a:ext cx="1981200" cy="236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77800" rIns="152400" bIns="127000" rtlCol="0" anchor="ctr"/>
          <a:lstStyle/>
          <a:p>
            <a:pPr algn="ctr"/>
            <a:r>
              <a:rPr sz="1420" b="1">
                <a:solidFill>
                  <a:srgbClr val="1D1D1F"/>
                </a:solidFill>
                <a:latin typeface="Noto Sans KR" panose="020B0200000000000000" pitchFamily="50" charset="-127"/>
              </a:rPr>
              <a:t>② 조회 준비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6E6E73"/>
                </a:solidFill>
                <a:latin typeface="Noto Sans KR" panose="020B0200000000000000" pitchFamily="50" charset="-127"/>
              </a:rPr>
              <a:t>질문을 SQL(데이터
조회문)로 자동 변환
/ 문서 질문이면
노션 검색으로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38700" y="2628900"/>
            <a:ext cx="381000" cy="406400"/>
          </a:xfrm>
          <a:prstGeom prst="rightArrow">
            <a:avLst/>
          </a:prstGeom>
          <a:solidFill>
            <a:srgbClr val="FF9500">
              <a:alpha val="92000"/>
            </a:srgb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57800" y="1701800"/>
            <a:ext cx="1981200" cy="236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77800" rIns="152400" bIns="127000" rtlCol="0" anchor="ctr"/>
          <a:lstStyle/>
          <a:p>
            <a:pPr algn="ctr"/>
            <a:r>
              <a:rPr sz="1420" b="1">
                <a:solidFill>
                  <a:srgbClr val="1D1D1F"/>
                </a:solidFill>
                <a:latin typeface="Noto Sans KR" panose="020B0200000000000000" pitchFamily="50" charset="-127"/>
              </a:rPr>
              <a:t>③ 실행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6E6E73"/>
                </a:solidFill>
                <a:latin typeface="Noto Sans KR" panose="020B0200000000000000" pitchFamily="50" charset="-127"/>
              </a:rPr>
              <a:t>BigQuery·노션에서
실제 데이터 조회
(권한 검사 통과분만,
반복 질문은 캐시로 즉답)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39000" y="2628900"/>
            <a:ext cx="381000" cy="406400"/>
          </a:xfrm>
          <a:prstGeom prst="rightArrow">
            <a:avLst/>
          </a:prstGeom>
          <a:solidFill>
            <a:srgbClr val="FF9500">
              <a:alpha val="92000"/>
            </a:srgb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58100" y="1701800"/>
            <a:ext cx="1981200" cy="236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77800" rIns="152400" bIns="127000" rtlCol="0" anchor="ctr"/>
          <a:lstStyle/>
          <a:p>
            <a:pPr algn="ctr"/>
            <a:r>
              <a:rPr sz="1420" b="1">
                <a:solidFill>
                  <a:srgbClr val="1D1D1F"/>
                </a:solidFill>
                <a:latin typeface="Noto Sans KR" panose="020B0200000000000000" pitchFamily="50" charset="-127"/>
              </a:rPr>
              <a:t>④ 답변 작성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6E6E73"/>
                </a:solidFill>
                <a:latin typeface="Noto Sans KR" panose="020B0200000000000000" pitchFamily="50" charset="-127"/>
              </a:rPr>
              <a:t>AI가 결과를 읽고
요약·표·차트·
인사이트로 정리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39300" y="2628900"/>
            <a:ext cx="381000" cy="406400"/>
          </a:xfrm>
          <a:prstGeom prst="rightArrow">
            <a:avLst/>
          </a:prstGeom>
          <a:solidFill>
            <a:srgbClr val="FF9500">
              <a:alpha val="92000"/>
            </a:srgbClr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0" y="1701800"/>
            <a:ext cx="1981200" cy="2362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27000" dist="50800" dir="5400000" rotWithShape="0">
              <a:srgbClr val="00000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77800" rIns="152400" bIns="127000" rtlCol="0" anchor="ctr"/>
          <a:lstStyle/>
          <a:p>
            <a:pPr algn="ctr"/>
            <a:r>
              <a:rPr sz="1420" b="1">
                <a:solidFill>
                  <a:srgbClr val="1D1D1F"/>
                </a:solidFill>
                <a:latin typeface="Noto Sans KR" panose="020B0200000000000000" pitchFamily="50" charset="-127"/>
              </a:rPr>
              <a:t>⑤ 검증 가능</a:t>
            </a:r>
          </a:p>
          <a:p>
            <a:pPr>
              <a:spcBef>
                <a:spcPts val="600"/>
              </a:spcBef>
            </a:pPr>
            <a:r>
              <a:rPr sz="1230">
                <a:solidFill>
                  <a:srgbClr val="6E6E73"/>
                </a:solidFill>
                <a:latin typeface="Noto Sans KR" panose="020B0200000000000000" pitchFamily="50" charset="-127"/>
              </a:rPr>
              <a:t>실행된 쿼리 공개
조회 조건 명시
👍👎 피드백 수집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4572000"/>
            <a:ext cx="10617200" cy="933589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b="1">
                <a:solidFill>
                  <a:srgbClr val="FF9500"/>
                </a:solidFill>
                <a:latin typeface="Noto Sans KR" panose="020B0200000000000000" pitchFamily="50" charset="-127"/>
              </a:rPr>
              <a:t>이래서 다릅니다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20">
                <a:solidFill>
                  <a:srgbClr val="3A3A3C"/>
                </a:solidFill>
                <a:latin typeface="Noto Sans KR" panose="020B0200000000000000" pitchFamily="50" charset="-127"/>
              </a:rPr>
              <a:t>•  숫자를 '지어내는' 게 아니라, 실제 데이터베이스를 조회한 결과만 답합니다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520">
                <a:solidFill>
                  <a:srgbClr val="3A3A3C"/>
                </a:solidFill>
                <a:latin typeface="Noto Sans KR" panose="020B0200000000000000" pitchFamily="50" charset="-127"/>
              </a:rPr>
              <a:t>•  전 과정이 자동 — 보통 5~20초. 매일 새벽 대표 질문 수십 개로 품질을 자동 점검합니다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0DC20-D83A-58F0-27F8-5773E703EE64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질문 처리 과정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864ADC-CDF1-0120-0AAF-7385A9B44558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2571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접속 주소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사내 네트워크에서 브라우저를 열고  http://10.1.100.5  입력 (크롬 권장, 즐겨찾기 추천)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처음이라면 — 회원가입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① [회원가입] 클릭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② 이름 입력 → 소속 팀이 자동으로 뜹니다 (AD 인사 정보 연동)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③ 비밀번호를 만들면 끝 — 별도 승인 대기 없음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다음부터는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이름 + 비밀번호로 로그인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60">
                <a:solidFill>
                  <a:srgbClr val="6E6E73"/>
                </a:solidFill>
                <a:latin typeface="Noto Sans KR" panose="020B0200000000000000" pitchFamily="50" charset="-127"/>
              </a:rPr>
              <a:t>※ 비밀번호 분실 시 관리자(임재필)에게 초기화 요청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DDB52-CBF1-D1D0-B8F6-C390288C5688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접속과 로그인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850217-3D7B-0144-A809-77E42A805691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2624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① 왼쪽 사이드바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새 대화(연필) / 지난 대화 목록·검색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Dashboard · System Status (뒤에서 설명)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② 가운데 입력창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질문 입력 후 Enter (Shift+Enter 줄바꿈)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클립 아이콘으로 이미지 첨부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③ 오른쪽 위 [Google 연결]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내 캘린더·메일을 물으려면 한 번 연결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④ 추천 질문 버튼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뭘 물을지 막막하면 눌러보세요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061D9C-C028-BAA8-4623-98679ECC43DB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 구성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810FF8-9BED-2495-530D-CB6D308778D0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sal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2571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입력: "올해 국가별 매출 top5 차트로 보여줘"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답변 구성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요약 → 상세 표 → 분석/인사이트 순서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"차트로"라고 하면 그래프도 그려줍니다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[표 복사]로 엑셀에 바로 붙여넣기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믿어도 되나요?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답변 아래 [실행된 쿼리]를 펼치면 실제 조회 내용이 그대로 공개됩니다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조회 조건(기간·정렬·제외 기준)도 명시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응답은 보통 5~20초입니다.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DD8D9-D294-5663-7DC6-FFD2ACB007A4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7.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첫 매출 질문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1E58BA-860D-760A-7E22-842177FD835F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0706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방금 답변에 이어서 짧게 물어도 맥락을 알아듣습니다.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예시 흐름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"올해 국가별 매출 top5" → "1위 국가만 월별 추이로" → "차트로 보여줘" → "작년이랑 비교하면?"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이런 말도 통합니다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"아까 그거 다시 보여줘"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"B2B 기준으로만" / "올해만" / "세트 제외하고"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주제를 바꿀 때는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연필 아이콘으로 새 대화 시작 — 이전 맥락과 섞이지 않습니다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93CFF-C9F4-9C5D-BC9E-DA569803ABFE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8.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이어서 묻기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02FA2-F4E2-5650-071A-3EAC5DEE3696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al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22514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평소 팀에서 쓰는 줄임말 그대로 물어보세요.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알아듣는 예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"센앰" → 센텔라 100 앰플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"포마" → 포어마이징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"델메" → Daily Metrics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"힝라우선세럼" (오타) → 히알루-시카 워터핏 선 세럼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모르는 용어를 만나면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임의로 추측하지 않고 관리자에게 자동 수집 — 다음 날이면 알아듣습니다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60">
                <a:solidFill>
                  <a:srgbClr val="6E6E73"/>
                </a:solidFill>
                <a:latin typeface="Noto Sans KR" panose="020B0200000000000000" pitchFamily="50" charset="-127"/>
              </a:rPr>
              <a:t>※ 안 통하는 팀 용어는 임재필에게 알려주세요. 바로 추가됩니다.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704F3-7C80-82F2-6F83-02E8CA40106B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9.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사내 용어와 오타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6874C-C8B4-C6FC-039D-5047693CE950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3_cella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066800"/>
            <a:ext cx="2772000" cy="5334000"/>
          </a:xfrm>
          <a:prstGeom prst="rect">
            <a:avLst/>
          </a:prstGeom>
          <a:effectLst>
            <a:outerShdw blurRad="177800" dist="63500" dir="5400000" rotWithShape="0">
              <a:srgbClr val="000000">
                <a:alpha val="14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571999" y="1041400"/>
            <a:ext cx="7391400" cy="28609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80">
                <a:solidFill>
                  <a:srgbClr val="3A3A3C"/>
                </a:solidFill>
                <a:latin typeface="Noto Sans KR" panose="020B0200000000000000" pitchFamily="50" charset="-127"/>
              </a:rPr>
              <a:t>화면 오른쪽 아래의 셀라 캐릭터가 상황에 맞는 사용 팁을 알려줍니다.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1">
                <a:solidFill>
                  <a:srgbClr val="FF9500"/>
                </a:solidFill>
                <a:latin typeface="Noto Sans KR" panose="020B0200000000000000" pitchFamily="50" charset="-127"/>
              </a:rPr>
              <a:t>이럴 때 나타납니다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80">
                <a:solidFill>
                  <a:srgbClr val="3A3A3C"/>
                </a:solidFill>
                <a:latin typeface="Noto Sans KR" panose="020B0200000000000000" pitchFamily="50" charset="-127"/>
              </a:rPr>
              <a:t>•  홈 화면: 질문 작성 팁 ("원하는 결과를 한 문장으로")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80">
                <a:solidFill>
                  <a:srgbClr val="3A3A3C"/>
                </a:solidFill>
                <a:latin typeface="Noto Sans KR" panose="020B0200000000000000" pitchFamily="50" charset="-127"/>
              </a:rPr>
              <a:t>•  @@ 입력 시: 데이터 소스 고르는 법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80">
                <a:solidFill>
                  <a:srgbClr val="3A3A3C"/>
                </a:solidFill>
                <a:latin typeface="Noto Sans KR" panose="020B0200000000000000" pitchFamily="50" charset="-127"/>
              </a:rPr>
              <a:t>•  답변 후: 결과 활용 팁 ("국가별로 다시 보여줘처럼 좁혀보세요")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700" b="1">
                <a:solidFill>
                  <a:srgbClr val="FF9500"/>
                </a:solidFill>
                <a:latin typeface="Noto Sans KR" panose="020B0200000000000000" pitchFamily="50" charset="-127"/>
              </a:rPr>
              <a:t>조작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80">
                <a:solidFill>
                  <a:srgbClr val="3A3A3C"/>
                </a:solidFill>
                <a:latin typeface="Noto Sans KR" panose="020B0200000000000000" pitchFamily="50" charset="-127"/>
              </a:rPr>
              <a:t>•  [숨기기]를 누르면 사라지고, [셀라 보기]로 다시 부를 수 있습니다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80">
                <a:solidFill>
                  <a:srgbClr val="3A3A3C"/>
                </a:solidFill>
                <a:latin typeface="Noto Sans KR" panose="020B0200000000000000" pitchFamily="50" charset="-127"/>
              </a:rPr>
              <a:t>처음 쓰는 분은 셀라의 팁만 따라가도 주요 기능을 익힐 수 있습니다.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BA9576-D277-A379-8250-65AD6D3457FC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10.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화면 속 </a:t>
            </a:r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Cella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05F99-2BC7-85A2-D718-8F7A5DCBB091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atat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7083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입력창에 @@만 치면 데이터 소스 목록이 뜹니다.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언제 쓰나요?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평소엔 안 써도 됩니다 — Cella가 알아서 고릅니다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특정 데이터만 정확히 보고 싶을 때 지정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예시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@@아마존 리뷰 센텔라 앰플 평점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@@손익 6월 영업이익 (승인자 전용)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@@GM EAST 일본 시장 자료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@@보고서 2026년 일본 매출  →  분석 보고서로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여러 개 동시 선택도 됩니다 (@@매출 @@마케팅 ...)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6AA6A-AD00-6ADE-6C91-9EEC35DE7CF7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11.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 소스 선택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55CF20-4D8A-3C28-B372-EAE13556E824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7400" y="1117600"/>
            <a:ext cx="10617200" cy="4170372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매출 데이터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매출 (전 플랫폼 통합) / 제품 (SKU별 판매수량) / 손익 (영업이익·판관비 — 승인자만)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마케팅 데이터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광고 (광고비·ROAS·CTR) / 마케팅 (비용) / 인플루언서 (협업·시딩·성과)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Shopify (자사몰) / 플랫폼 (올리브영·예스스타일 순위·가격) / 아마존검색 (제품별 노출·클릭)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리뷰 4종: 아마존 / 큐텐 / 쇼피 / 스마트스토어 (평점·감성 분석)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문서·지식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노션 팀 문서: B2B1·B2B2·BCM·Craver·CS·DB·GM EAST·GM WEST·JBT·KBT 등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BP (제품 Q&amp;A): 전성분·사용법·비건 인증·피부 타입별 추천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BC 초상권: 모델 사진 사용 가능 여부·기한·에이전시 (@@초상권)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개인 (Google 연결 후)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내 캘린더 일정, Gmail, Drive 파일 검색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8FD72-118A-86D0-C402-E8A913B4DA5F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12.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사용할 수 있는 데이터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F2A8B-44A7-89AC-7430-50A188BD1BC7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7400" y="1117600"/>
            <a:ext cx="10617200" cy="5637441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700" b="1">
                <a:solidFill>
                  <a:srgbClr val="FF9500"/>
                </a:solidFill>
                <a:latin typeface="Noto Sans KR" panose="020B0200000000000000" pitchFamily="50" charset="-127"/>
              </a:rPr>
              <a:t>보고서를 쓰는 경우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총량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추세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구성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전년 대비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순위를 한 번에 볼 때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채팅에는 요약과 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[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보고서 열기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]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링크가 표시됩니다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700" b="1">
                <a:solidFill>
                  <a:srgbClr val="FF9500"/>
                </a:solidFill>
                <a:latin typeface="Noto Sans KR" panose="020B0200000000000000" pitchFamily="50" charset="-127"/>
              </a:rPr>
              <a:t>만드는 방법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“2026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년 일본 매출 보고서 만들어줘”라고 질문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또는 입력창에서 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@@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보고서 선택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700" b="1">
                <a:solidFill>
                  <a:srgbClr val="FF9500"/>
                </a:solidFill>
                <a:latin typeface="Noto Sans KR" panose="020B0200000000000000" pitchFamily="50" charset="-127"/>
              </a:rPr>
              <a:t>조건 예시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일본 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B2C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월별 변동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: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일본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·B2C·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프로모션 일정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우마 브랜드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: UM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만 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/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중국사업팀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: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팀 전체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동남아시아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1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팀 채널별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: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인도네시아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필리핀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700" b="1">
                <a:solidFill>
                  <a:srgbClr val="FF9500"/>
                </a:solidFill>
                <a:latin typeface="Noto Sans KR" panose="020B0200000000000000" pitchFamily="50" charset="-127"/>
              </a:rPr>
              <a:t>기본 설정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기간이 없으면 직전에 끝난 반기를 사용합니다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작성자만 열 수 있고 지정한 사람에게만 공유됩니다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400" b="1">
                <a:solidFill>
                  <a:srgbClr val="3A3A3C"/>
                </a:solidFill>
                <a:latin typeface="Noto Sans KR" panose="020B0200000000000000" pitchFamily="50" charset="-127"/>
              </a:rPr>
              <a:t>수치와 검산용 쿼리를 함께 저장합니다</a:t>
            </a:r>
            <a:r>
              <a:rPr lang="en-US" altLang="ko-KR" sz="1400" b="1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  <a:endParaRPr sz="1400" b="0">
              <a:solidFill>
                <a:srgbClr val="3A3A3C"/>
              </a:solidFill>
              <a:latin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C43AB-C2AF-6635-69DF-DEB0ABD58E86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13.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분석 보고서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4AEBBB-CB14-1EA2-93EA-BFE1614E8E7A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7400" y="1117600"/>
            <a:ext cx="10617200" cy="3936975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어떻게 공유하나요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보고서 맨 위 </a:t>
            </a:r>
            <a:r>
              <a:rPr sz="1680" b="1">
                <a:solidFill>
                  <a:srgbClr val="3A3A3C"/>
                </a:solidFill>
                <a:latin typeface="Noto Sans KR" panose="020B0200000000000000" pitchFamily="50" charset="-127"/>
              </a:rPr>
              <a:t>[공유]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 버튼 → 이름·이메일·부서로 검색 → 지목하면 끝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지목한 사람은 같은 주소로 바로 열 수 있습니다 — 따로 보낼 것이 없습니다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언제든 </a:t>
            </a:r>
            <a:r>
              <a:rPr sz="1680" b="1">
                <a:solidFill>
                  <a:srgbClr val="3A3A3C"/>
                </a:solidFill>
                <a:latin typeface="Noto Sans KR" panose="020B0200000000000000" pitchFamily="50" charset="-127"/>
              </a:rPr>
              <a:t>[해제]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 할 수 있고, 누구에게 갔는지 목록으로 보입니다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링크만으로는 열리지 않습니다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지목하지 않은 사람은 주소를 알아도 열리지 않습니다 (원가·마진이 들어갑니다)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그래서 </a:t>
            </a:r>
            <a:r>
              <a:rPr sz="1680" b="1">
                <a:solidFill>
                  <a:srgbClr val="3A3A3C"/>
                </a:solidFill>
                <a:latin typeface="Noto Sans KR" panose="020B0200000000000000" pitchFamily="50" charset="-127"/>
              </a:rPr>
              <a:t>잔디·메일에 링크를 붙여도 됩니다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 — 볼 사람만 열립니다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공유받은 사람에게는 "○○○ 님이 공유한 보고서입니다" 안내가 보입니다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알아두면 좋은 것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아직 한 번도 로그인한 적 없는 분은 검색에 나오지 않습니다 — 가입 후 공유해 주세요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공유받은 사람은 다시 공유하거나 해제할 수 없습니다 (만든 사람만 가능)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</a:t>
            </a:r>
            <a:r>
              <a:rPr sz="1680" b="0">
                <a:solidFill>
                  <a:srgbClr val="3A3A3C"/>
                </a:solidFill>
                <a:latin typeface="Noto Sans KR" panose="020B0200000000000000" pitchFamily="50" charset="-127"/>
              </a:rPr>
              <a:t>공유받은 보고서도 내 보고서 목록에 함께 보입니다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F6879-8F5C-1A55-291F-D7F828132BE4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14.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보고서 공유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7B1152-C882-C350-ED3B-A09920DCF1DE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8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065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고객 응대나 제품 공부에 바로 쓸 수 있습니다.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이렇게 물어보세요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"센텔라 앰플 전성분 알려줘"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"워터핏 선 세럼 사용법"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"나이아신아마이드 들어간 제품 뭐 있어?"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"임산부가 써도 되는 제품은?"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믿을 수 있는 이유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전성분은 사내 공식 시트에서 매일 자동 동기화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확인 안 되는 제품은 "정보 없음"이라고 정직하게 답합니다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7BFC6C-2362-A351-CDE7-9D3C8A54DD59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15.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제품 성분과 사용법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7B6F7-EA13-6B54-DB0B-21B8A294F140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9_n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35707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노션을 뒤질 필요 없이 바로 물어보세요.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이렇게 물어보세요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"휴가 신청 절차 알려줘"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"신규 거래처 온보딩 프로세스"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"수출 선적 프로세스"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알아둘 것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출처는 각 팀 노션 문서 — 문서에 없는 내용은 답할 수 없습니다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특정 팀 문서만 보려면 @@팀이름 으로 지정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6A9FA-77BB-4CFB-9720-E0ECEF96265F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16.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사내 문서와 규정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6F7831-2857-F856-48D1-F821E44AB0FB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4_r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399"/>
            <a:ext cx="3632200" cy="450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모델 사진을 쓰기 전 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Cella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에서 사용 기한을 확인하세요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560" b="1">
                <a:solidFill>
                  <a:srgbClr val="FF9500"/>
                </a:solidFill>
                <a:latin typeface="Noto Sans KR" panose="020B0200000000000000" pitchFamily="50" charset="-127"/>
              </a:rPr>
              <a:t>이렇게 물어보세요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“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라리사 초상권은 언제까지야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?”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사진을 첨부하고 “이 모델 써도 돼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?”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라고 질문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@@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초상권 또는 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@@bc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선택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560" b="1">
                <a:solidFill>
                  <a:srgbClr val="FF9500"/>
                </a:solidFill>
                <a:latin typeface="Noto Sans KR" panose="020B0200000000000000" pitchFamily="50" charset="-127"/>
              </a:rPr>
              <a:t>확인하는 항목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사용 가능 여부와 만료일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허용 매체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지역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,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담당자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·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에이전시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560" b="1">
                <a:solidFill>
                  <a:srgbClr val="FF9500"/>
                </a:solidFill>
                <a:latin typeface="Noto Sans KR" panose="020B0200000000000000" pitchFamily="50" charset="-127"/>
              </a:rPr>
              <a:t>알아둘 점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BC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팀 공식 시트를 매일 동기화합니다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등록 모델 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27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명 중 현재 사용 가능한 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9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명은 사진으로도 인식합니다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  <a:endParaRPr sz="1310">
              <a:solidFill>
                <a:srgbClr val="3A3A3C"/>
              </a:solidFill>
              <a:latin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49C5C-B13A-4FE2-9183-132593EDFBFF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17.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모델 초상권 확인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97280-CA22-4328-10E0-ED7BF11DA739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0333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사이드바 [Dashboard]를 누르면 회사의 모든 공식 대시보드가 한곳에 모여 있습니다.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탭 구성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인플루언서 / 매출&amp;제품 / 퍼포먼스마케팅 / 기타 / 솔루션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쓰는 법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항목을 클릭하면 오른쪽에 미리보기가 뜨고, 바로 열 수 있습니다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Looker 대시보드·구글 시트가 종류별로 정리돼 있습니다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60">
                <a:solidFill>
                  <a:srgbClr val="6E6E73"/>
                </a:solidFill>
                <a:latin typeface="Noto Sans KR" panose="020B0200000000000000" pitchFamily="50" charset="-127"/>
              </a:rPr>
              <a:t>※ "그 대시보드 주소가 뭐였지?" 할 때 여기서 찾으면 됩니다. 채팅으로 "인플루언서 대시보드 링크 줘"라고 물어도 됩니다.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944FF-6F5C-55C0-2C06-6804D97B3418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18.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사내 대시보드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EC8E1-C9A2-10C4-2A2C-3D4573CF8320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1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399"/>
            <a:ext cx="3632200" cy="41185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[System Status]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에서 데이터 연결과 주요 점검 결과를 확인합니다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560" b="1">
                <a:solidFill>
                  <a:srgbClr val="FF9500"/>
                </a:solidFill>
                <a:latin typeface="Noto Sans KR" panose="020B0200000000000000" pitchFamily="50" charset="-127"/>
              </a:rPr>
              <a:t>보는 법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초록 ‘정상’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: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연결 및 주요 점검 통과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All OK: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등록된 점검이 모두 정상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560" b="1">
                <a:solidFill>
                  <a:srgbClr val="FF9500"/>
                </a:solidFill>
                <a:latin typeface="Noto Sans KR" panose="020B0200000000000000" pitchFamily="50" charset="-127"/>
              </a:rPr>
              <a:t>체크박스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질문에서 조회할 데이터 범위를 제한합니다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 @@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선택과 같습니다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lang="ko-KR" altLang="en-US" sz="1560" b="1">
                <a:solidFill>
                  <a:srgbClr val="FF9500"/>
                </a:solidFill>
                <a:latin typeface="Noto Sans KR" panose="020B0200000000000000" pitchFamily="50" charset="-127"/>
              </a:rPr>
              <a:t>알아둘 점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소량 누락이나 현재 적재 진행까지 보증하지는 않습니다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• </a:t>
            </a:r>
            <a:r>
              <a:rPr lang="ko-KR" altLang="en-US" sz="1310">
                <a:solidFill>
                  <a:srgbClr val="3A3A3C"/>
                </a:solidFill>
                <a:latin typeface="Noto Sans KR" panose="020B0200000000000000" pitchFamily="50" charset="-127"/>
              </a:rPr>
              <a:t>최신 데이터가 안 보이면 소스 상태와 답변의 적재 안내를 함께 확인하세요</a:t>
            </a:r>
            <a:r>
              <a:rPr lang="en-US" altLang="ko-KR" sz="1310">
                <a:solidFill>
                  <a:srgbClr val="3A3A3C"/>
                </a:solidFill>
                <a:latin typeface="Noto Sans KR" panose="020B0200000000000000" pitchFamily="50" charset="-127"/>
              </a:rPr>
              <a:t>.</a:t>
            </a:r>
            <a:endParaRPr sz="1310">
              <a:solidFill>
                <a:srgbClr val="3A3A3C"/>
              </a:solidFill>
              <a:latin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EBB69-C20C-7857-59E0-8F060FC90577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19.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데이터 상태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8113D-60E9-7928-9B38-1D0422B3863D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w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117600"/>
            <a:ext cx="7747000" cy="4841875"/>
          </a:xfrm>
          <a:prstGeom prst="rect">
            <a:avLst/>
          </a:prstGeom>
          <a:ln w="7620">
            <a:solidFill>
              <a:srgbClr val="D2D2D7"/>
            </a:solidFill>
          </a:ln>
          <a:effectLst>
            <a:outerShdw blurRad="152400" dist="63500" dir="5400000" rotWithShape="0">
              <a:srgbClr val="000000">
                <a:alpha val="16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331200" y="1041400"/>
            <a:ext cx="3632200" cy="43689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 cap="flat" cmpd="sng" algn="ctr">
            <a:solidFill>
              <a:srgbClr val="D2D2D7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152400" dist="50800" dir="5400000" rotWithShape="0">
              <a:srgbClr val="000000">
                <a:alpha val="12000"/>
              </a:srgbClr>
            </a:outerShdw>
          </a:effectLst>
        </p:spPr>
        <p:txBody>
          <a:bodyPr wrap="square" lIns="203200" tIns="177800" rIns="203200" bIns="152400" anchor="t">
            <a:no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Cella는 대화·데이터에서 배운 사실을 지식 지도로 정리해 둡니다. 답변 품질의 밑거름입니다.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무엇이 들어있나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매출·마케팅·제품·팀·노션 등 6개 도메인, 사실(팩트) 2만여 건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예: "수량은 Product 테이블 기준", "메가와리는 큐텐 행사" 같은 검증된 규칙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650" b="1">
                <a:solidFill>
                  <a:srgbClr val="FF9500"/>
                </a:solidFill>
                <a:latin typeface="Noto Sans KR" panose="020B0200000000000000" pitchFamily="50" charset="-127"/>
              </a:rPr>
              <a:t>어떻게 쓰이나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질문할 때 관련 지식이 자동으로 참고돼 답변 정확도를 높입니다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420">
                <a:solidFill>
                  <a:srgbClr val="3A3A3C"/>
                </a:solidFill>
                <a:latin typeface="Noto Sans KR" panose="020B0200000000000000" pitchFamily="50" charset="-127"/>
              </a:rPr>
              <a:t>•  매일 새벽 자동 갱신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60">
                <a:solidFill>
                  <a:srgbClr val="6E6E73"/>
                </a:solidFill>
                <a:latin typeface="Noto Sans KR" panose="020B0200000000000000" pitchFamily="50" charset="-127"/>
              </a:rPr>
              <a:t>※ 현재 관리자 메뉴로 제공 — 일반 사용자는 몰라도 사용에 지장 없습니다.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8DC733-AC01-C611-AE5A-5D360809098A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20. Knowledge Wiki</a:t>
            </a:r>
            <a:endParaRPr lang="ko-KR" altLang="en-US" sz="2250" b="1">
              <a:solidFill>
                <a:srgbClr val="1D1D1F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1484C-E570-0C2C-B7E8-071ECD89945D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7400" y="1117600"/>
            <a:ext cx="10617200" cy="3606115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① 기간을 넣으면 정확해집니다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"매출 알려줘" (되물어봄) → "올해 상반기 매출 알려줘" (바로 답)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② 조건은 자연스럽게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"일본 큐텐 6월 센텔라 앰플 매출" — 국가·채널·제품·기간 자유롭게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③ 표·차트는 말로 요청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"차트로 보여줘", "표로 정리해줘", "도넛 차트로"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④ 한 번에 하나씩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복잡한 질문은 나눠서 — "매출 보여줘" 다음 "마케팅비랑 비교해줘"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⑤ 답변이 이상하면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👎 버튼을 눌러주세요 — 전건 검토해 고칩니다. 👍는 학습에 쓰입니다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2B6A6-3705-07D3-C7C5-9F91D3D0144D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21.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정확한 질문 작성법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7CF5F-86EE-28C2-3C66-97E9241A930D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812800"/>
          </a:xfrm>
          <a:prstGeom prst="rect">
            <a:avLst/>
          </a:prstGeom>
          <a:solidFill>
            <a:srgbClr val="FFFFFF">
              <a:alpha val="97000"/>
            </a:srgbClr>
          </a:solidFill>
          <a:ln>
            <a:noFill/>
          </a:ln>
          <a:effectLst>
            <a:outerShdw blurRad="76200" dist="19050" dir="5400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7400" y="1117600"/>
            <a:ext cx="10617200" cy="3524042"/>
          </a:xfrm>
          <a:prstGeom prst="rect">
            <a:avLst/>
          </a:prstGeom>
          <a:noFill/>
        </p:spPr>
        <p:txBody>
          <a:bodyPr wrap="square" lIns="50800" tIns="50800" rIns="50800" bIns="50800" anchor="t">
            <a:noAutofit/>
          </a:bodyPr>
          <a:lstStyle/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숫자는 회사 공식 기준입니다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매출 산식은 Daily Metrics와 동일함을 원 단위까지 검증했습니다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브랜드·대륙·수량 집계 기준 통일 — 사람마다 다른 답이 나오지 않습니다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모든 답변에 [실행된 쿼리] 공개 — 어떻게 나온 숫자인지 확인 가능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민감 데이터는 권한으로 보호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재무 손익(영업이익 등)은 승인된 사람만 조회 — 필요 시 관리자에게 요청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품질은 매일 자동 점검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매일 새벽 대표 질문 수십 개를 자동 실행해 품질 회귀를 감시합니다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900" b="1">
                <a:solidFill>
                  <a:srgbClr val="FF9500"/>
                </a:solidFill>
                <a:latin typeface="Noto Sans KR" panose="020B0200000000000000" pitchFamily="50" charset="-127"/>
              </a:rPr>
              <a:t>한계도 있습니다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sz="1680">
                <a:solidFill>
                  <a:srgbClr val="3A3A3C"/>
                </a:solidFill>
                <a:latin typeface="Noto Sans KR" panose="020B0200000000000000" pitchFamily="50" charset="-127"/>
              </a:rPr>
              <a:t>•  AI 답변이므로 중요한 의사결정 전에는 원본 수치를 한 번 더 확인하세요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084D62-9C5A-274B-5C4C-D210BE3862B6}"/>
              </a:ext>
            </a:extLst>
          </p:cNvPr>
          <p:cNvSpPr txBox="1"/>
          <p:nvPr/>
        </p:nvSpPr>
        <p:spPr>
          <a:xfrm>
            <a:off x="558800" y="165100"/>
            <a:ext cx="10160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22. </a:t>
            </a:r>
            <a:r>
              <a:rPr lang="ko-KR" altLang="en-US" sz="2250" b="1">
                <a:solidFill>
                  <a:srgbClr val="1D1D1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신뢰와 권한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0B23E-9D19-D7DF-3F6C-0DD06560AA8A}"/>
              </a:ext>
            </a:extLst>
          </p:cNvPr>
          <p:cNvSpPr txBox="1"/>
          <p:nvPr/>
        </p:nvSpPr>
        <p:spPr>
          <a:xfrm>
            <a:off x="11023600" y="203200"/>
            <a:ext cx="9144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550" b="1">
                <a:solidFill>
                  <a:srgbClr val="FF9500"/>
                </a:solidFill>
                <a:latin typeface="Arial" panose="020B0604020202020204" pitchFamily="34" charset="0"/>
              </a:rPr>
              <a:t>Cella</a:t>
            </a:r>
            <a:endParaRPr lang="ko-KR" altLang="en-US" sz="1550" b="1">
              <a:solidFill>
                <a:srgbClr val="FF95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68400" y="2032000"/>
            <a:ext cx="4530086" cy="33778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4000" b="1">
                <a:solidFill>
                  <a:srgbClr val="FFFFFF"/>
                </a:solidFill>
                <a:latin typeface="Noto Sans KR" panose="020B0200000000000000" pitchFamily="50" charset="-127"/>
              </a:rPr>
              <a:t>지금 바로 물어보세요</a:t>
            </a:r>
          </a:p>
          <a:p>
            <a:pPr>
              <a:spcBef>
                <a:spcPts val="2400"/>
              </a:spcBef>
              <a:spcAft>
                <a:spcPts val="2000"/>
              </a:spcAft>
            </a:pPr>
            <a:r>
              <a:rPr sz="2500" b="1">
                <a:solidFill>
                  <a:srgbClr val="FF9500"/>
                </a:solidFill>
                <a:latin typeface="Noto Sans KR" panose="020B0200000000000000" pitchFamily="50" charset="-127"/>
              </a:rPr>
              <a:t>http://10.1.100.5</a:t>
            </a:r>
          </a:p>
          <a:p>
            <a:pPr>
              <a:spcBef>
                <a:spcPts val="2000"/>
              </a:spcBef>
              <a:spcAft>
                <a:spcPts val="3000"/>
              </a:spcAft>
            </a:pPr>
            <a:r>
              <a:rPr sz="1700">
                <a:solidFill>
                  <a:srgbClr val="F5F5F7"/>
                </a:solidFill>
                <a:latin typeface="Noto Sans KR" panose="020B0200000000000000" pitchFamily="50" charset="-127"/>
              </a:rPr>
              <a:t>첫 질문 추천:  "올해 우리 팀 관련 매출 얼마야?"</a:t>
            </a:r>
          </a:p>
          <a:p>
            <a:pPr>
              <a:spcBef>
                <a:spcPts val="3600"/>
              </a:spcBef>
            </a:pPr>
            <a:r>
              <a:rPr sz="1250">
                <a:solidFill>
                  <a:srgbClr val="8E8E93"/>
                </a:solidFill>
                <a:latin typeface="Noto Sans KR" panose="020B0200000000000000" pitchFamily="50" charset="-127"/>
              </a:rPr>
              <a:t>문의·권한 요청·용어 추가:  임재필 (jeffrey@skin1004korea.com)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2157</Words>
  <Application>Microsoft Office PowerPoint</Application>
  <PresentationFormat>와이드스크린</PresentationFormat>
  <Paragraphs>276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Noto Sans KR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baecj@skin1004korea.com</cp:lastModifiedBy>
  <cp:revision>2</cp:revision>
  <dcterms:created xsi:type="dcterms:W3CDTF">2013-01-27T09:14:16Z</dcterms:created>
  <dcterms:modified xsi:type="dcterms:W3CDTF">2026-09-07T01:56:51Z</dcterms:modified>
  <cp:category/>
</cp:coreProperties>
</file>